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73" r:id="rId5"/>
    <p:sldId id="259" r:id="rId6"/>
    <p:sldId id="261" r:id="rId7"/>
    <p:sldId id="262" r:id="rId8"/>
    <p:sldId id="263" r:id="rId9"/>
    <p:sldId id="267" r:id="rId10"/>
    <p:sldId id="268" r:id="rId11"/>
    <p:sldId id="269" r:id="rId12"/>
    <p:sldId id="265" r:id="rId13"/>
    <p:sldId id="264" r:id="rId14"/>
    <p:sldId id="266" r:id="rId15"/>
    <p:sldId id="270" r:id="rId16"/>
    <p:sldId id="260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02" autoAdjust="0"/>
  </p:normalViewPr>
  <p:slideViewPr>
    <p:cSldViewPr>
      <p:cViewPr varScale="1">
        <p:scale>
          <a:sx n="78" d="100"/>
          <a:sy n="78" d="100"/>
        </p:scale>
        <p:origin x="850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hal singh" userId="a337b72ae7d80898" providerId="LiveId" clId="{3AA473BF-DBF0-4A88-8B73-89E08743AD07}"/>
    <pc:docChg chg="modSld">
      <pc:chgData name="vishal singh" userId="a337b72ae7d80898" providerId="LiveId" clId="{3AA473BF-DBF0-4A88-8B73-89E08743AD07}" dt="2026-04-09T18:55:23.631" v="2" actId="14100"/>
      <pc:docMkLst>
        <pc:docMk/>
      </pc:docMkLst>
      <pc:sldChg chg="modSp mod">
        <pc:chgData name="vishal singh" userId="a337b72ae7d80898" providerId="LiveId" clId="{3AA473BF-DBF0-4A88-8B73-89E08743AD07}" dt="2026-04-09T18:55:23.631" v="2" actId="14100"/>
        <pc:sldMkLst>
          <pc:docMk/>
          <pc:sldMk cId="0" sldId="259"/>
        </pc:sldMkLst>
        <pc:spChg chg="mod">
          <ac:chgData name="vishal singh" userId="a337b72ae7d80898" providerId="LiveId" clId="{3AA473BF-DBF0-4A88-8B73-89E08743AD07}" dt="2026-04-09T18:55:23.631" v="2" actId="14100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vishal singh" userId="a337b72ae7d80898" providerId="LiveId" clId="{3AA473BF-DBF0-4A88-8B73-89E08743AD07}" dt="2026-04-09T18:50:37.295" v="1" actId="255"/>
        <pc:sldMkLst>
          <pc:docMk/>
          <pc:sldMk cId="2999449423" sldId="272"/>
        </pc:sldMkLst>
        <pc:spChg chg="mod">
          <ac:chgData name="vishal singh" userId="a337b72ae7d80898" providerId="LiveId" clId="{3AA473BF-DBF0-4A88-8B73-89E08743AD07}" dt="2026-04-09T18:50:37.295" v="1" actId="255"/>
          <ac:spMkLst>
            <pc:docMk/>
            <pc:sldMk cId="2999449423" sldId="272"/>
            <ac:spMk id="2" creationId="{7197E026-4D98-02CB-EC2B-704F2F1F8C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EADA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0" y="4749800"/>
            <a:ext cx="2476498" cy="210819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914400" y="3089628"/>
            <a:ext cx="10363200" cy="0"/>
          </a:xfrm>
          <a:custGeom>
            <a:avLst/>
            <a:gdLst/>
            <a:ahLst/>
            <a:cxnLst/>
            <a:rect l="l" t="t" r="r" b="b"/>
            <a:pathLst>
              <a:path w="10363200">
                <a:moveTo>
                  <a:pt x="0" y="0"/>
                </a:moveTo>
                <a:lnTo>
                  <a:pt x="10363199" y="0"/>
                </a:lnTo>
              </a:path>
            </a:pathLst>
          </a:custGeom>
          <a:ln w="95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4534784"/>
            <a:ext cx="3014162" cy="165885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94747" y="4789713"/>
            <a:ext cx="2497251" cy="2068284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845126" y="1191931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>
                <a:moveTo>
                  <a:pt x="0" y="0"/>
                </a:moveTo>
                <a:lnTo>
                  <a:pt x="10515599" y="0"/>
                </a:lnTo>
              </a:path>
            </a:pathLst>
          </a:custGeom>
          <a:ln w="9524">
            <a:solidFill>
              <a:srgbClr val="3DA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636827" y="555008"/>
            <a:ext cx="695322" cy="44767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5651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EADA7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00" y="3590623"/>
            <a:ext cx="23729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400" b="1" spc="-3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Members</a:t>
            </a:r>
            <a:r>
              <a:rPr sz="2400" b="1" spc="-1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600" spc="-5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1022" y="3528798"/>
            <a:ext cx="228536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Group</a:t>
            </a:r>
            <a:r>
              <a:rPr sz="2400" b="1" spc="-7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sz="2800" spc="-10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4B5513-3ED6-B94D-CF0C-979C739BFB18}"/>
              </a:ext>
            </a:extLst>
          </p:cNvPr>
          <p:cNvSpPr txBox="1"/>
          <p:nvPr/>
        </p:nvSpPr>
        <p:spPr>
          <a:xfrm>
            <a:off x="2085126" y="848756"/>
            <a:ext cx="80217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PRE-DECODER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</a:p>
          <a:p>
            <a:pPr algn="ctr"/>
            <a:r>
              <a:rPr lang="en-US" sz="4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 DECODER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B4FA4D-808A-85BE-881A-B4E3BB2A3C33}"/>
              </a:ext>
            </a:extLst>
          </p:cNvPr>
          <p:cNvSpPr txBox="1"/>
          <p:nvPr/>
        </p:nvSpPr>
        <p:spPr>
          <a:xfrm>
            <a:off x="2819400" y="3489043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D431AA-F172-4471-6E6E-ED48CA146159}"/>
              </a:ext>
            </a:extLst>
          </p:cNvPr>
          <p:cNvSpPr txBox="1"/>
          <p:nvPr/>
        </p:nvSpPr>
        <p:spPr>
          <a:xfrm>
            <a:off x="5241667" y="3996804"/>
            <a:ext cx="4360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MT25111 Charu Singh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MT25130 Neeti Mishra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MT25157 Vishal Kumar Singh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7F9F8-EB7E-2C31-9BBC-7507B7F2B678}"/>
              </a:ext>
            </a:extLst>
          </p:cNvPr>
          <p:cNvSpPr txBox="1"/>
          <p:nvPr/>
        </p:nvSpPr>
        <p:spPr>
          <a:xfrm>
            <a:off x="5241667" y="5334000"/>
            <a:ext cx="4594528" cy="11669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Course:- Memory Design And Test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r>
              <a:rPr lang="en-IN" sz="23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Prof.: Dr Anuj Grover</a:t>
            </a: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602355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90" dirty="0"/>
              <a:t> </a:t>
            </a:r>
            <a:r>
              <a:rPr dirty="0"/>
              <a:t>Statement</a:t>
            </a:r>
            <a:endParaRPr spc="-1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4A6B4-EF89-4610-DB7E-6D504AC8AC04}"/>
              </a:ext>
            </a:extLst>
          </p:cNvPr>
          <p:cNvSpPr txBox="1"/>
          <p:nvPr/>
        </p:nvSpPr>
        <p:spPr>
          <a:xfrm flipH="1">
            <a:off x="803787" y="1219200"/>
            <a:ext cx="10515600" cy="239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1800" b="1" u="sng" dirty="0"/>
              <a:t>Requirements</a:t>
            </a:r>
            <a:r>
              <a:rPr lang="en-US" sz="1800" b="1" dirty="0"/>
              <a:t> : </a:t>
            </a:r>
          </a:p>
          <a:p>
            <a:pPr rtl="0">
              <a:lnSpc>
                <a:spcPct val="150000"/>
              </a:lnSpc>
            </a:pPr>
            <a:r>
              <a:rPr lang="en-US" sz="1800" dirty="0"/>
              <a:t>To design a pre-decoder with the following</a:t>
            </a:r>
            <a:endParaRPr lang="en-US" b="0" dirty="0">
              <a:effectLst/>
            </a:endParaRP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Input capacitance &lt;10fF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Output loading is for 512 rows,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Hold time to be negative at FF/1.32/-40,</a:t>
            </a: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800" dirty="0"/>
              <a:t>Setup time to be within 500ps at SS/1.08/125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CE62AF-B2E0-3041-20E2-DCA190C650FE}"/>
              </a:ext>
            </a:extLst>
          </p:cNvPr>
          <p:cNvSpPr txBox="1"/>
          <p:nvPr/>
        </p:nvSpPr>
        <p:spPr>
          <a:xfrm>
            <a:off x="786581" y="3530530"/>
            <a:ext cx="106680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SCRAMBLING: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memory size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8192 × 32 bits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a total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13 address bits (A12–A0)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required. </a:t>
            </a:r>
          </a:p>
          <a:p>
            <a:pPr marL="285750" indent="-285750" algn="l" rtl="0">
              <a:buFont typeface="Arial" panose="020B0604020202020204" pitchFamily="34" charset="0"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higher address bits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(A12–A4)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 selection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pre-decoding and post-decoding stages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pre-decoding is implemented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three 3:8 decoders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which divide the address bits into groups for efficient row decoding.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lower address bits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(A3–A0)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column decoding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corresponding 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MUX16 configuration.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6023551" cy="557862"/>
          </a:xfrm>
          <a:prstGeom prst="rect">
            <a:avLst/>
          </a:prstGeom>
        </p:spPr>
        <p:txBody>
          <a:bodyPr vert="horz" wrap="square" lIns="0" tIns="6478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Possible pre-decoding stages</a:t>
            </a:r>
            <a:endParaRPr spc="-1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51A4D6C-74C9-58E1-DA2D-B1C23942E6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081278"/>
              </p:ext>
            </p:extLst>
          </p:nvPr>
        </p:nvGraphicFramePr>
        <p:xfrm>
          <a:off x="838200" y="1371600"/>
          <a:ext cx="1059180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360">
                  <a:extLst>
                    <a:ext uri="{9D8B030D-6E8A-4147-A177-3AD203B41FA5}">
                      <a16:colId xmlns:a16="http://schemas.microsoft.com/office/drawing/2014/main" val="2314598938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811168619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983747235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1471776897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590879647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Specification / Stages</a:t>
                      </a:r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1x2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br>
                        <a:rPr lang="de-DE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2x4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2: 1x2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endParaRPr lang="de-DE" sz="1800" b="1" i="0" u="none" strike="noStrike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rtl="0"/>
                      <a:r>
                        <a:rPr lang="de-DE" sz="1800" b="1" i="0" u="none" strike="noStrike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3: 3x8 Decoder</a:t>
                      </a:r>
                      <a:endParaRPr lang="de-DE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1224222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 output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 output lines</a:t>
                      </a:r>
                    </a:p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429474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algn="ctr"/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512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448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476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i="0" u="none" strike="noStrik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 tapping = 192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654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217CEF-003D-CE71-7DE7-EB1F7041AE91}"/>
              </a:ext>
            </a:extLst>
          </p:cNvPr>
          <p:cNvSpPr txBox="1"/>
          <p:nvPr/>
        </p:nvSpPr>
        <p:spPr>
          <a:xfrm>
            <a:off x="1371600" y="3307080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1B23E-7D11-559B-78BE-4EEB93B73551}"/>
              </a:ext>
            </a:extLst>
          </p:cNvPr>
          <p:cNvSpPr txBox="1"/>
          <p:nvPr/>
        </p:nvSpPr>
        <p:spPr>
          <a:xfrm>
            <a:off x="1277824" y="4419600"/>
            <a:ext cx="10214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97BD8B-0778-0962-76EE-22D3E71A3992}"/>
              </a:ext>
            </a:extLst>
          </p:cNvPr>
          <p:cNvSpPr txBox="1"/>
          <p:nvPr/>
        </p:nvSpPr>
        <p:spPr>
          <a:xfrm>
            <a:off x="838200" y="5381059"/>
            <a:ext cx="10363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3:3x8 decoder configuration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 as it provides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trade-off between area and power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achieving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power consumption with acceptable area overhead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16DA-4C22-C26A-9483-0FCDFB0FD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7772400" cy="492443"/>
          </a:xfrm>
        </p:spPr>
        <p:txBody>
          <a:bodyPr/>
          <a:lstStyle/>
          <a:p>
            <a:r>
              <a:rPr lang="en-US" spc="-50" dirty="0"/>
              <a:t>3:8 Pre-Decoder With Inverter Schematic </a:t>
            </a:r>
            <a:endParaRPr lang="en-IN" dirty="0"/>
          </a:p>
        </p:txBody>
      </p:sp>
      <p:pic>
        <p:nvPicPr>
          <p:cNvPr id="3" name="Google Shape;126;p21">
            <a:extLst>
              <a:ext uri="{FF2B5EF4-FFF2-40B4-BE49-F238E27FC236}">
                <a16:creationId xmlns:a16="http://schemas.microsoft.com/office/drawing/2014/main" id="{A1AD9F7E-0D2F-0ACF-3723-5A22DA59E2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1442555"/>
            <a:ext cx="4953000" cy="449812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E69D9C0-25BC-617E-204C-5DD8391D0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386403"/>
              </p:ext>
            </p:extLst>
          </p:nvPr>
        </p:nvGraphicFramePr>
        <p:xfrm>
          <a:off x="6975288" y="2105518"/>
          <a:ext cx="3270623" cy="3172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79362">
                  <a:extLst>
                    <a:ext uri="{9D8B030D-6E8A-4147-A177-3AD203B41FA5}">
                      <a16:colId xmlns:a16="http://schemas.microsoft.com/office/drawing/2014/main" val="1621681316"/>
                    </a:ext>
                  </a:extLst>
                </a:gridCol>
                <a:gridCol w="1021320">
                  <a:extLst>
                    <a:ext uri="{9D8B030D-6E8A-4147-A177-3AD203B41FA5}">
                      <a16:colId xmlns:a16="http://schemas.microsoft.com/office/drawing/2014/main" val="960608716"/>
                    </a:ext>
                  </a:extLst>
                </a:gridCol>
                <a:gridCol w="1069941">
                  <a:extLst>
                    <a:ext uri="{9D8B030D-6E8A-4147-A177-3AD203B41FA5}">
                      <a16:colId xmlns:a16="http://schemas.microsoft.com/office/drawing/2014/main" val="769286699"/>
                    </a:ext>
                  </a:extLst>
                </a:gridCol>
              </a:tblGrid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Gates</a:t>
                      </a:r>
                      <a:endParaRPr sz="2000" b="1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PMOS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NMOS</a:t>
                      </a:r>
                      <a:endParaRPr sz="20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1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0842429"/>
                  </a:ext>
                </a:extLst>
              </a:tr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A1,A2,A3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1.35u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0.55u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70990"/>
                  </a:ext>
                </a:extLst>
              </a:tr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2.03u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536848"/>
                  </a:ext>
                </a:extLst>
              </a:tr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1.5u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780931"/>
                  </a:ext>
                </a:extLst>
              </a:tr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4.5u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4.5u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4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3850344"/>
                  </a:ext>
                </a:extLst>
              </a:tr>
              <a:tr h="528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8.0u</a:t>
                      </a:r>
                      <a:endParaRPr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3.4u</a:t>
                      </a:r>
                      <a:endParaRPr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4300" marR="34300" marT="34300" marB="343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6D6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18963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A5AE441-54F9-0E38-2059-F33DCC7D519F}"/>
              </a:ext>
            </a:extLst>
          </p:cNvPr>
          <p:cNvSpPr txBox="1"/>
          <p:nvPr/>
        </p:nvSpPr>
        <p:spPr>
          <a:xfrm>
            <a:off x="6975288" y="144255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Sizing Using Logical Effort</a:t>
            </a:r>
            <a:r>
              <a:rPr lang="en-IN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640631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8610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100"/>
              </a:spcBef>
            </a:pPr>
            <a:r>
              <a:rPr lang="en-US" spc="-50" dirty="0"/>
              <a:t>3:8 Pre-Decoder Schematic &amp; Sizing</a:t>
            </a:r>
            <a:endParaRPr spc="-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F180A-F92B-3FE6-6501-27F7EAAA8FBC}"/>
              </a:ext>
            </a:extLst>
          </p:cNvPr>
          <p:cNvSpPr txBox="1"/>
          <p:nvPr/>
        </p:nvSpPr>
        <p:spPr>
          <a:xfrm>
            <a:off x="5943600" y="1143000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Sizing Using Logical Effort</a:t>
            </a:r>
            <a:r>
              <a:rPr lang="en-IN" dirty="0"/>
              <a:t>: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E12DEF01-093D-6233-7199-76E4551F0DA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312BC294-03A2-AEDE-F71B-60AEE4E83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7A98B6C-ECCE-2622-1A71-8F7DEDE8E8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12332"/>
            <a:ext cx="5257800" cy="22214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02B957D-94E2-7F42-2054-22F4BFA43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258787"/>
              </p:ext>
            </p:extLst>
          </p:nvPr>
        </p:nvGraphicFramePr>
        <p:xfrm>
          <a:off x="6086168" y="3893574"/>
          <a:ext cx="518160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9640232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434337666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784751627"/>
                    </a:ext>
                  </a:extLst>
                </a:gridCol>
              </a:tblGrid>
              <a:tr h="2946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NMOS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742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0.378u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0.140u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34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0.170u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1593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0.639u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0.275u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368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1.169u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0.167u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9621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1.246u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1.07u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9683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5.32u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2.289u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320580"/>
                  </a:ext>
                </a:extLst>
              </a:tr>
            </a:tbl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1332428"/>
            <a:ext cx="5578475" cy="5210175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C9FD-53AD-8A29-73F0-17B158D63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US" dirty="0"/>
              <a:t>EZ Wave Simulation Results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0D9387-74CD-320B-5089-637D856ED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47"/>
          <a:stretch>
            <a:fillRect/>
          </a:stretch>
        </p:blipFill>
        <p:spPr>
          <a:xfrm>
            <a:off x="685800" y="1371600"/>
            <a:ext cx="5410200" cy="51866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FF5CDB-0B35-F9DB-B6BC-6AD696D6A4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95" b="5912"/>
          <a:stretch>
            <a:fillRect/>
          </a:stretch>
        </p:blipFill>
        <p:spPr>
          <a:xfrm>
            <a:off x="6273571" y="1371600"/>
            <a:ext cx="5413248" cy="518665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2458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FD408-444B-9DD9-5363-E1146B3D8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7848600" cy="492443"/>
          </a:xfrm>
        </p:spPr>
        <p:txBody>
          <a:bodyPr/>
          <a:lstStyle/>
          <a:p>
            <a:r>
              <a:rPr lang="en-US" dirty="0"/>
              <a:t>Column Decoder </a:t>
            </a:r>
            <a:r>
              <a:rPr lang="en-US" spc="-50" dirty="0"/>
              <a:t>Schematic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C1AAEB-DAA8-F337-9ADB-80CD5A5F12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400" y="1882877"/>
            <a:ext cx="4343401" cy="3486151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D3AE4-48FE-22F6-5CF2-D235C2BE86BD}"/>
              </a:ext>
            </a:extLst>
          </p:cNvPr>
          <p:cNvSpPr txBox="1"/>
          <p:nvPr/>
        </p:nvSpPr>
        <p:spPr>
          <a:xfrm>
            <a:off x="8686800" y="5486400"/>
            <a:ext cx="1521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 Selection Box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1524000"/>
            <a:ext cx="6259511" cy="464819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7615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18537-5014-079B-E28E-65CA00FA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US" dirty="0"/>
              <a:t>EZ Wave Simulation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F5305B-38C9-8FF1-726F-FD79C1BAA5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65" t="1374" r="2941" b="3346"/>
          <a:stretch>
            <a:fillRect/>
          </a:stretch>
        </p:blipFill>
        <p:spPr>
          <a:xfrm>
            <a:off x="6400800" y="1371599"/>
            <a:ext cx="5181600" cy="513220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613194-1DEC-D0E4-BB8C-D7307DD405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17" t="1912" r="2275"/>
          <a:stretch>
            <a:fillRect/>
          </a:stretch>
        </p:blipFill>
        <p:spPr>
          <a:xfrm>
            <a:off x="705467" y="1371599"/>
            <a:ext cx="5390534" cy="513220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89550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IN" dirty="0"/>
              <a:t>Pre Decoder: 3x8 Decoder Layout</a:t>
            </a:r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152CF0BE-F1F7-F621-B990-A76E6D0150C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E95588-CCE1-C92F-F3EA-A0F75BD90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475" y="1357823"/>
            <a:ext cx="2419350" cy="4899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32EC37F-FAF7-D899-E8E7-E59375E2C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524" y="1573864"/>
            <a:ext cx="6023551" cy="401507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246229-7ABF-7670-FC12-D8BF1B5D3E6B}"/>
              </a:ext>
            </a:extLst>
          </p:cNvPr>
          <p:cNvSpPr txBox="1"/>
          <p:nvPr/>
        </p:nvSpPr>
        <p:spPr>
          <a:xfrm>
            <a:off x="1719215" y="5934094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1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14.495*24.37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353.24</a:t>
            </a:r>
            <a:r>
              <a:rPr lang="en-IN" sz="2000" b="1" dirty="0"/>
              <a:t> µm²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51DF95-3977-E0E5-229D-35C3B3EF2A03}"/>
              </a:ext>
            </a:extLst>
          </p:cNvPr>
          <p:cNvSpPr/>
          <p:nvPr/>
        </p:nvSpPr>
        <p:spPr>
          <a:xfrm>
            <a:off x="304800" y="1447800"/>
            <a:ext cx="6477000" cy="43676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36F626-FC49-BFC2-18F0-755BB4E6F6CF}"/>
              </a:ext>
            </a:extLst>
          </p:cNvPr>
          <p:cNvCxnSpPr>
            <a:cxnSpLocks/>
          </p:cNvCxnSpPr>
          <p:nvPr/>
        </p:nvCxnSpPr>
        <p:spPr>
          <a:xfrm flipV="1">
            <a:off x="5124450" y="4102236"/>
            <a:ext cx="2419350" cy="1079364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lgDash"/>
            <a:round/>
            <a:headEnd type="none" w="med" len="med"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388B52B-E0D9-5565-C861-60A0EB7237E5}"/>
              </a:ext>
            </a:extLst>
          </p:cNvPr>
          <p:cNvSpPr/>
          <p:nvPr/>
        </p:nvSpPr>
        <p:spPr>
          <a:xfrm>
            <a:off x="7543800" y="1295400"/>
            <a:ext cx="2819400" cy="51054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9EB72E-4028-7614-AF0A-C35F257DF2D9}"/>
              </a:ext>
            </a:extLst>
          </p:cNvPr>
          <p:cNvSpPr/>
          <p:nvPr/>
        </p:nvSpPr>
        <p:spPr>
          <a:xfrm>
            <a:off x="1641140" y="5919139"/>
            <a:ext cx="3888075" cy="7377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155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7565D-1C78-F9B5-ADBB-5950B170C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IN" dirty="0"/>
              <a:t>Pre Decoder: 3x8 Decoder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161BA-3056-CB38-DF58-8CFBEF6EE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942" y="1292301"/>
            <a:ext cx="10058400" cy="27493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3EBE45-007E-9F69-AA6C-28927A3C43E8}"/>
              </a:ext>
            </a:extLst>
          </p:cNvPr>
          <p:cNvSpPr txBox="1"/>
          <p:nvPr/>
        </p:nvSpPr>
        <p:spPr>
          <a:xfrm>
            <a:off x="1143000" y="4407036"/>
            <a:ext cx="3429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 2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34.79*8.25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287.01</a:t>
            </a:r>
            <a:r>
              <a:rPr lang="en-IN" sz="1800" b="1" dirty="0"/>
              <a:t> µm²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B6B40F-78D8-CA2C-606F-E57B8BB4166A}"/>
              </a:ext>
            </a:extLst>
          </p:cNvPr>
          <p:cNvSpPr/>
          <p:nvPr/>
        </p:nvSpPr>
        <p:spPr>
          <a:xfrm>
            <a:off x="762000" y="4290334"/>
            <a:ext cx="3886200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D60BDBB-6881-2922-4A61-10750EA52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5" t="7007" r="-4617"/>
          <a:stretch>
            <a:fillRect/>
          </a:stretch>
        </p:blipFill>
        <p:spPr>
          <a:xfrm>
            <a:off x="4876800" y="4191001"/>
            <a:ext cx="3505201" cy="223247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6E68BA-188A-30FC-B92E-5718C3F57C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44" t="8409" r="4107" b="5964"/>
          <a:stretch>
            <a:fillRect/>
          </a:stretch>
        </p:blipFill>
        <p:spPr>
          <a:xfrm>
            <a:off x="8411498" y="4191000"/>
            <a:ext cx="2895600" cy="223247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A513274-43E8-4FC5-AF0A-5B6896684A2F}"/>
              </a:ext>
            </a:extLst>
          </p:cNvPr>
          <p:cNvCxnSpPr/>
          <p:nvPr/>
        </p:nvCxnSpPr>
        <p:spPr>
          <a:xfrm>
            <a:off x="5943600" y="30480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55FF1F-6195-E654-A6CA-3623FB9BC79D}"/>
              </a:ext>
            </a:extLst>
          </p:cNvPr>
          <p:cNvCxnSpPr/>
          <p:nvPr/>
        </p:nvCxnSpPr>
        <p:spPr>
          <a:xfrm flipH="1">
            <a:off x="152400" y="1828800"/>
            <a:ext cx="1828800" cy="3478439"/>
          </a:xfrm>
          <a:prstGeom prst="line">
            <a:avLst/>
          </a:prstGeom>
          <a:ln w="19050">
            <a:solidFill>
              <a:srgbClr val="FF0000"/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C3C60C-401C-9F94-C41B-1229520340D5}"/>
              </a:ext>
            </a:extLst>
          </p:cNvPr>
          <p:cNvCxnSpPr>
            <a:cxnSpLocks/>
          </p:cNvCxnSpPr>
          <p:nvPr/>
        </p:nvCxnSpPr>
        <p:spPr>
          <a:xfrm>
            <a:off x="152400" y="5307239"/>
            <a:ext cx="4648200" cy="306987"/>
          </a:xfrm>
          <a:prstGeom prst="straightConnector1">
            <a:avLst/>
          </a:prstGeom>
          <a:ln w="38100">
            <a:solidFill>
              <a:srgbClr val="FF0000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A7DC47-C539-63CD-2C75-77D0F33AE2B5}"/>
              </a:ext>
            </a:extLst>
          </p:cNvPr>
          <p:cNvCxnSpPr/>
          <p:nvPr/>
        </p:nvCxnSpPr>
        <p:spPr>
          <a:xfrm>
            <a:off x="9906000" y="3048000"/>
            <a:ext cx="1905000" cy="609600"/>
          </a:xfrm>
          <a:prstGeom prst="line">
            <a:avLst/>
          </a:prstGeom>
          <a:ln w="19050"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AB77736-7C7B-1BC7-0882-0B61FB1E4D89}"/>
              </a:ext>
            </a:extLst>
          </p:cNvPr>
          <p:cNvCxnSpPr>
            <a:cxnSpLocks/>
          </p:cNvCxnSpPr>
          <p:nvPr/>
        </p:nvCxnSpPr>
        <p:spPr>
          <a:xfrm flipH="1">
            <a:off x="11430000" y="3657600"/>
            <a:ext cx="381000" cy="533400"/>
          </a:xfrm>
          <a:prstGeom prst="straightConnector1">
            <a:avLst/>
          </a:prstGeom>
          <a:ln w="38100">
            <a:solidFill>
              <a:srgbClr val="FF0000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2F20EED-969C-61D2-8645-0DB84CE5C207}"/>
              </a:ext>
            </a:extLst>
          </p:cNvPr>
          <p:cNvSpPr txBox="1"/>
          <p:nvPr/>
        </p:nvSpPr>
        <p:spPr>
          <a:xfrm>
            <a:off x="3124200" y="5800647"/>
            <a:ext cx="17523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 State Latch</a:t>
            </a:r>
          </a:p>
        </p:txBody>
      </p:sp>
    </p:spTree>
    <p:extLst>
      <p:ext uri="{BB962C8B-B14F-4D97-AF65-F5344CB8AC3E}">
        <p14:creationId xmlns:p14="http://schemas.microsoft.com/office/powerpoint/2010/main" val="2739460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72B3F-C2F0-FB73-7399-10C3E20BC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IN" dirty="0"/>
              <a:t>Pre Decoder: 3x8 Decoder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5AC125-F3B8-D141-6E43-058C17D9B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927" y="1447800"/>
            <a:ext cx="5424673" cy="4038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588744-2492-0515-E91B-6A84A183B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1" b="16601"/>
          <a:stretch>
            <a:fillRect/>
          </a:stretch>
        </p:blipFill>
        <p:spPr>
          <a:xfrm>
            <a:off x="6096000" y="1447800"/>
            <a:ext cx="5029200" cy="40386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0F2E9C-2EBD-EC4F-3967-BE4E17CF8640}"/>
              </a:ext>
            </a:extLst>
          </p:cNvPr>
          <p:cNvSpPr txBox="1"/>
          <p:nvPr/>
        </p:nvSpPr>
        <p:spPr>
          <a:xfrm>
            <a:off x="4385841" y="5884573"/>
            <a:ext cx="2929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DRC &amp; LVS Clean Report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319000-9F45-7B73-A168-F3CDA2663121}"/>
              </a:ext>
            </a:extLst>
          </p:cNvPr>
          <p:cNvSpPr/>
          <p:nvPr/>
        </p:nvSpPr>
        <p:spPr>
          <a:xfrm>
            <a:off x="4267200" y="5715000"/>
            <a:ext cx="3200400" cy="7084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1968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US" dirty="0"/>
              <a:t>Setup &amp; Hold Time Waveform (3:8)</a:t>
            </a:r>
            <a:endParaRPr lang="en-IN" dirty="0"/>
          </a:p>
        </p:txBody>
      </p:sp>
      <p:sp>
        <p:nvSpPr>
          <p:cNvPr id="3" name="AutoShape 2" descr="blob:https://web.whatsapp.com/d922546a-d1ee-4f2d-90dc-e6218e1c143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 descr="blob:https://web.whatsapp.com/d922546a-d1ee-4f2d-90dc-e6218e1c1431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1295400"/>
            <a:ext cx="4953001" cy="49530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500" y="1282700"/>
            <a:ext cx="5791200" cy="49657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972842" y="6394382"/>
            <a:ext cx="20954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Waveform For Setup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394382"/>
            <a:ext cx="19768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itchFamily="18" charset="0"/>
                <a:cs typeface="Times New Roman" pitchFamily="18" charset="0"/>
              </a:rPr>
              <a:t>Waveform For Hold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D33BE7-4D44-C7C9-3F20-B1B80E9B11B1}"/>
              </a:ext>
            </a:extLst>
          </p:cNvPr>
          <p:cNvSpPr/>
          <p:nvPr/>
        </p:nvSpPr>
        <p:spPr>
          <a:xfrm>
            <a:off x="1981200" y="6400800"/>
            <a:ext cx="213360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5A444-2A84-6ED0-C0DE-990C433C28F7}"/>
              </a:ext>
            </a:extLst>
          </p:cNvPr>
          <p:cNvSpPr/>
          <p:nvPr/>
        </p:nvSpPr>
        <p:spPr>
          <a:xfrm>
            <a:off x="7772400" y="6394382"/>
            <a:ext cx="1981200" cy="3385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207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632279"/>
          </a:xfrm>
        </p:spPr>
        <p:txBody>
          <a:bodyPr/>
          <a:lstStyle/>
          <a:p>
            <a:pPr rtl="0"/>
            <a:r>
              <a:rPr lang="en-IN" dirty="0"/>
              <a:t>Setup &amp; Hold Time Results(3:8)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41225"/>
              </p:ext>
            </p:extLst>
          </p:nvPr>
        </p:nvGraphicFramePr>
        <p:xfrm>
          <a:off x="828554" y="1472396"/>
          <a:ext cx="812799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Input(ABC)</a:t>
                      </a:r>
                      <a:endParaRPr lang="en-IN" sz="24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Setup</a:t>
                      </a:r>
                      <a:r>
                        <a:rPr lang="en-IN" sz="2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 Time(</a:t>
                      </a:r>
                      <a:r>
                        <a:rPr lang="en-IN" sz="2400" b="1" i="0" u="none" strike="noStrike" baseline="0" dirty="0" err="1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ps</a:t>
                      </a:r>
                      <a:r>
                        <a:rPr lang="en-IN" sz="24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)</a:t>
                      </a:r>
                      <a:endParaRPr lang="en-IN" sz="24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Hold Time (</a:t>
                      </a:r>
                      <a:r>
                        <a:rPr lang="en-IN" sz="2400" dirty="0" err="1"/>
                        <a:t>ps</a:t>
                      </a:r>
                      <a:r>
                        <a:rPr lang="en-IN" sz="2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199.6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-61.7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239.51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-59.11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226.6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-62.7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264.29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-87.78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199.61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-62.71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239.2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-78.93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198.3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-61.46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592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263.15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latin typeface="Times New Roman" pitchFamily="18" charset="0"/>
                          <a:cs typeface="Times New Roman" pitchFamily="18" charset="0"/>
                        </a:rPr>
                        <a:t>-84.44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905000" y="5962813"/>
            <a:ext cx="6324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0"/>
            <a:r>
              <a:rPr lang="en-IN" b="1" dirty="0"/>
              <a:t>Delay in CLK w.r.t. External CLK at SS/1.08/125 = 53 </a:t>
            </a:r>
            <a:r>
              <a:rPr lang="en-IN" b="1" dirty="0" err="1"/>
              <a:t>ps</a:t>
            </a:r>
            <a:endParaRPr lang="en-IN" b="1" dirty="0">
              <a:effectLst/>
            </a:endParaRPr>
          </a:p>
          <a:p>
            <a:r>
              <a:rPr lang="en-IN" b="1" dirty="0"/>
              <a:t>Delay in CLK w.r.t. External CLK at FF/1.32/-40 = 42 </a:t>
            </a:r>
            <a:r>
              <a:rPr lang="en-IN" b="1" dirty="0" err="1"/>
              <a:t>ps</a:t>
            </a:r>
            <a:endParaRPr lang="en-IN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91B305-D5A6-0C22-7570-4838C702AAB7}"/>
              </a:ext>
            </a:extLst>
          </p:cNvPr>
          <p:cNvSpPr/>
          <p:nvPr/>
        </p:nvSpPr>
        <p:spPr>
          <a:xfrm>
            <a:off x="1730253" y="5960962"/>
            <a:ext cx="6324600" cy="609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893B8B-09A5-ED76-EE23-E872379811CA}"/>
              </a:ext>
            </a:extLst>
          </p:cNvPr>
          <p:cNvSpPr txBox="1"/>
          <p:nvPr/>
        </p:nvSpPr>
        <p:spPr>
          <a:xfrm>
            <a:off x="8958482" y="2438400"/>
            <a:ext cx="2698175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Tristate Latch Hold Time</a:t>
            </a:r>
          </a:p>
          <a:p>
            <a:pPr algn="ctr"/>
            <a:r>
              <a:rPr lang="en-IN" sz="2000" b="1" dirty="0"/>
              <a:t>-17.7ps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200F4F-CBD6-0566-AA66-60ED3073AA2C}"/>
              </a:ext>
            </a:extLst>
          </p:cNvPr>
          <p:cNvSpPr/>
          <p:nvPr/>
        </p:nvSpPr>
        <p:spPr>
          <a:xfrm>
            <a:off x="9012169" y="2401669"/>
            <a:ext cx="259080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049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IN" dirty="0"/>
              <a:t>Column Decoder Layout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8E54B84-B83B-7613-C43C-AF1F590DF4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974E0-9F81-CC0A-597F-27DC9B903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24" y="1447800"/>
            <a:ext cx="7610475" cy="45720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B9EB92-688F-91F5-B302-928F6B26B159}"/>
              </a:ext>
            </a:extLst>
          </p:cNvPr>
          <p:cNvSpPr txBox="1"/>
          <p:nvPr/>
        </p:nvSpPr>
        <p:spPr>
          <a:xfrm>
            <a:off x="7885374" y="156793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25.865*22.875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591.661</a:t>
            </a:r>
            <a:r>
              <a:rPr lang="en-IN" sz="1800" b="1" dirty="0"/>
              <a:t>µm²</a:t>
            </a:r>
            <a:endParaRPr lang="en-IN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432B4A-C252-C3E5-BE68-E951685360F1}"/>
              </a:ext>
            </a:extLst>
          </p:cNvPr>
          <p:cNvSpPr/>
          <p:nvPr/>
        </p:nvSpPr>
        <p:spPr>
          <a:xfrm>
            <a:off x="7908523" y="1295400"/>
            <a:ext cx="3471320" cy="9144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5EBAEB8-592D-E3C3-1AD2-BFF3BDD74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523" y="2514600"/>
            <a:ext cx="4020153" cy="35374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1C4393-06FA-C9D6-7210-45CED865D93A}"/>
              </a:ext>
            </a:extLst>
          </p:cNvPr>
          <p:cNvSpPr txBox="1"/>
          <p:nvPr/>
        </p:nvSpPr>
        <p:spPr>
          <a:xfrm>
            <a:off x="8696446" y="6107668"/>
            <a:ext cx="69911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DRC Report</a:t>
            </a:r>
            <a:endParaRPr lang="en-IN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73D1022-235E-E50F-0D60-01D4B59F6184}"/>
              </a:ext>
            </a:extLst>
          </p:cNvPr>
          <p:cNvSpPr/>
          <p:nvPr/>
        </p:nvSpPr>
        <p:spPr>
          <a:xfrm>
            <a:off x="8696446" y="6107668"/>
            <a:ext cx="1704914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279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7F4A2-65E8-2C0F-E6A5-3101A8E0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521"/>
            <a:ext cx="6023551" cy="492443"/>
          </a:xfrm>
        </p:spPr>
        <p:txBody>
          <a:bodyPr/>
          <a:lstStyle/>
          <a:p>
            <a:r>
              <a:rPr lang="en-IN" dirty="0"/>
              <a:t>Column Decoder Layout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CE9F1B-5FFE-C491-BA01-4A1DB9060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63" y="1447800"/>
            <a:ext cx="5253037" cy="3276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5B5DCB-D5B9-CC06-9D8B-26CBA5BE3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47800"/>
            <a:ext cx="4993511" cy="32766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CB4B4C-7BED-250C-BE02-E5B607DE0DD1}"/>
              </a:ext>
            </a:extLst>
          </p:cNvPr>
          <p:cNvSpPr txBox="1"/>
          <p:nvPr/>
        </p:nvSpPr>
        <p:spPr>
          <a:xfrm>
            <a:off x="2457312" y="5199902"/>
            <a:ext cx="16033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2X4 Decoder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E21F3C-3D0A-6BE9-8676-CC7906F9C26B}"/>
              </a:ext>
            </a:extLst>
          </p:cNvPr>
          <p:cNvSpPr/>
          <p:nvPr/>
        </p:nvSpPr>
        <p:spPr>
          <a:xfrm>
            <a:off x="2230274" y="4991100"/>
            <a:ext cx="2057400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8AE653-2614-96F6-524D-6CE83E7CE0F4}"/>
              </a:ext>
            </a:extLst>
          </p:cNvPr>
          <p:cNvSpPr txBox="1"/>
          <p:nvPr/>
        </p:nvSpPr>
        <p:spPr>
          <a:xfrm>
            <a:off x="7097692" y="5105400"/>
            <a:ext cx="3429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Bitline</a:t>
            </a:r>
            <a:r>
              <a:rPr lang="en-IN" sz="2000" b="1" dirty="0"/>
              <a:t> Selection Box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7AA00-0CEE-367E-7F3A-FF8CCC5F0F23}"/>
              </a:ext>
            </a:extLst>
          </p:cNvPr>
          <p:cNvSpPr/>
          <p:nvPr/>
        </p:nvSpPr>
        <p:spPr>
          <a:xfrm>
            <a:off x="7097692" y="4971809"/>
            <a:ext cx="2798926" cy="838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48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34521"/>
            <a:ext cx="87630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  <a:tabLst>
                <a:tab pos="2258060" algn="l"/>
              </a:tabLst>
            </a:pPr>
            <a:r>
              <a:rPr lang="en-IN" dirty="0"/>
              <a:t>Challenges,</a:t>
            </a:r>
            <a:r>
              <a:rPr dirty="0"/>
              <a:t>Future</a:t>
            </a:r>
            <a:r>
              <a:rPr spc="-40" dirty="0"/>
              <a:t> </a:t>
            </a:r>
            <a:r>
              <a:rPr spc="-20" dirty="0"/>
              <a:t>Plan</a:t>
            </a:r>
            <a:r>
              <a:rPr lang="en-IN" spc="-2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-40" dirty="0"/>
              <a:t>Work</a:t>
            </a:r>
            <a:r>
              <a:rPr spc="-100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86003D96-3C51-6D88-0CDC-F232771C2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1290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743798-73AC-56C9-2983-5CE8290BA9B9}"/>
              </a:ext>
            </a:extLst>
          </p:cNvPr>
          <p:cNvSpPr txBox="1"/>
          <p:nvPr/>
        </p:nvSpPr>
        <p:spPr>
          <a:xfrm>
            <a:off x="685800" y="1219200"/>
            <a:ext cx="11125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had difficulty deciding the correct sizing of the column decoder and had to try multiple times.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faced issues like LUP/dup DRC errors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sconnect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problems, which made debugging and fixing the layout difficult.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also faced difficulty in area optimization while using fingers in both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column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predecoder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r>
              <a:rPr lang="en-IN" dirty="0"/>
              <a:t>                    </a:t>
            </a:r>
          </a:p>
          <a:p>
            <a:pPr algn="l" rtl="0"/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Plans</a:t>
            </a:r>
            <a:r>
              <a:rPr kumimoji="0" lang="en-US" altLang="en-US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Minimize layout areas to improve efficiency.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Focus on reducing delays for </a:t>
            </a:r>
            <a:r>
              <a:rPr lang="en-IN" dirty="0" err="1"/>
              <a:t>predecoder</a:t>
            </a:r>
            <a:r>
              <a:rPr lang="en-IN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Aim to optimize PPA (</a:t>
            </a:r>
            <a:r>
              <a:rPr lang="en-IN" dirty="0" err="1"/>
              <a:t>Power,Performance,Area</a:t>
            </a:r>
            <a:r>
              <a:rPr lang="en-IN" dirty="0"/>
              <a:t>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  <a:p>
            <a:r>
              <a:rPr lang="en-IN" b="1" u="sng" dirty="0"/>
              <a:t>Work Distributions:</a:t>
            </a:r>
          </a:p>
          <a:p>
            <a:endParaRPr lang="en-IN" b="1" u="sng" dirty="0"/>
          </a:p>
          <a:p>
            <a:r>
              <a:rPr lang="en-US" dirty="0"/>
              <a:t>All three members were equally involved in all aspects of the work.</a:t>
            </a:r>
          </a:p>
          <a:p>
            <a:endParaRPr lang="en-IN" b="1" u="sng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7E026-4D98-02CB-EC2B-704F2F1F8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3157039" y="2967335"/>
            <a:ext cx="5877921" cy="923330"/>
          </a:xfrm>
        </p:spPr>
        <p:txBody>
          <a:bodyPr/>
          <a:lstStyle/>
          <a:p>
            <a:r>
              <a:rPr lang="en-IN" sz="6000" b="1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9944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548</TotalTime>
  <Words>631</Words>
  <Application>Microsoft Office PowerPoint</Application>
  <PresentationFormat>Widescreen</PresentationFormat>
  <Paragraphs>180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Times New Roman</vt:lpstr>
      <vt:lpstr>Wingdings</vt:lpstr>
      <vt:lpstr>Office Theme</vt:lpstr>
      <vt:lpstr>PowerPoint Presentation</vt:lpstr>
      <vt:lpstr>Problem Statement</vt:lpstr>
      <vt:lpstr>Possible pre-decoding stages</vt:lpstr>
      <vt:lpstr>3:8 Pre-Decoder With Inverter Schematic </vt:lpstr>
      <vt:lpstr>3:8 Pre-Decoder Schematic &amp; Sizing</vt:lpstr>
      <vt:lpstr>EZ Wave Simulation Results</vt:lpstr>
      <vt:lpstr>Column Decoder Schematic</vt:lpstr>
      <vt:lpstr>EZ Wave Simulation Results</vt:lpstr>
      <vt:lpstr>Pre Decoder: 3x8 Decoder Layout</vt:lpstr>
      <vt:lpstr>Pre Decoder: 3x8 Decoder Layout</vt:lpstr>
      <vt:lpstr>Pre Decoder: 3x8 Decoder Layout</vt:lpstr>
      <vt:lpstr>Setup &amp; Hold Time Waveform (3:8)</vt:lpstr>
      <vt:lpstr>Setup &amp; Hold Time Results(3:8)  </vt:lpstr>
      <vt:lpstr>Column Decoder Layout</vt:lpstr>
      <vt:lpstr>Column Decoder Layout</vt:lpstr>
      <vt:lpstr>Challenges,Future Plan And Work Distribution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 singh</dc:creator>
  <cp:lastModifiedBy>vishal singh</cp:lastModifiedBy>
  <cp:revision>13</cp:revision>
  <dcterms:created xsi:type="dcterms:W3CDTF">2026-03-27T06:08:29Z</dcterms:created>
  <dcterms:modified xsi:type="dcterms:W3CDTF">2026-04-09T18:55:27Z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2026-03-27T00:00:00Z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2026-03-27T00:00:00Z</vt:filetime>
  </property>
</Properties>
</file>